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8" r:id="rId10"/>
    <p:sldId id="263" r:id="rId11"/>
    <p:sldId id="264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57" d="100"/>
          <a:sy n="57" d="100"/>
        </p:scale>
        <p:origin x="6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INE PAKIARAJA" userId="7d315908926f16d6" providerId="LiveId" clId="{25B08D23-DA77-42D0-9815-C0091A5FB193}"/>
    <pc:docChg chg="custSel modSld">
      <pc:chgData name="DIVINE PAKIARAJA" userId="7d315908926f16d6" providerId="LiveId" clId="{25B08D23-DA77-42D0-9815-C0091A5FB193}" dt="2026-02-18T18:06:34.914" v="20" actId="20577"/>
      <pc:docMkLst>
        <pc:docMk/>
      </pc:docMkLst>
      <pc:sldChg chg="delSp modSp mod">
        <pc:chgData name="DIVINE PAKIARAJA" userId="7d315908926f16d6" providerId="LiveId" clId="{25B08D23-DA77-42D0-9815-C0091A5FB193}" dt="2026-02-18T18:06:34.914" v="20" actId="20577"/>
        <pc:sldMkLst>
          <pc:docMk/>
          <pc:sldMk cId="406330820" sldId="256"/>
        </pc:sldMkLst>
        <pc:spChg chg="mod">
          <ac:chgData name="DIVINE PAKIARAJA" userId="7d315908926f16d6" providerId="LiveId" clId="{25B08D23-DA77-42D0-9815-C0091A5FB193}" dt="2026-02-18T18:06:15.094" v="1" actId="27636"/>
          <ac:spMkLst>
            <pc:docMk/>
            <pc:sldMk cId="406330820" sldId="256"/>
            <ac:spMk id="3" creationId="{66C9A138-37D7-70F1-4D71-2935035453B1}"/>
          </ac:spMkLst>
        </pc:spChg>
        <pc:spChg chg="mod">
          <ac:chgData name="DIVINE PAKIARAJA" userId="7d315908926f16d6" providerId="LiveId" clId="{25B08D23-DA77-42D0-9815-C0091A5FB193}" dt="2026-02-18T18:06:34.914" v="20" actId="20577"/>
          <ac:spMkLst>
            <pc:docMk/>
            <pc:sldMk cId="406330820" sldId="256"/>
            <ac:spMk id="4" creationId="{E4F9C03C-0190-F02A-428A-336A9A6BCF9C}"/>
          </ac:spMkLst>
        </pc:spChg>
        <pc:spChg chg="del">
          <ac:chgData name="DIVINE PAKIARAJA" userId="7d315908926f16d6" providerId="LiveId" clId="{25B08D23-DA77-42D0-9815-C0091A5FB193}" dt="2026-02-18T18:06:18.034" v="2" actId="478"/>
          <ac:spMkLst>
            <pc:docMk/>
            <pc:sldMk cId="406330820" sldId="256"/>
            <ac:spMk id="5" creationId="{9B926862-C70F-9DAB-A5A3-76527BB4DF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a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EE5BB-7889-4260-8356-7C411013B411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a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a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74DAB-CE3C-4759-AC24-967C0B4709DD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83602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a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74DAB-CE3C-4759-AC24-967C0B4709DD}" type="slidenum">
              <a:rPr lang="ta-IN" smtClean="0"/>
              <a:t>1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05222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ta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03787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35772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74964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08914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39613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19322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19606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99567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ta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033973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68898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63223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DB1D378-6370-4093-90D9-70906DF2C676}" type="datetimeFigureOut">
              <a:rPr lang="ta-IN" smtClean="0"/>
              <a:t>18-02-2026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D494A041-16AF-41D5-A506-E99235FB66B2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114126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C014-2C4F-D129-5EE4-E6370C409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Automatic Email Sending Using Python</a:t>
            </a:r>
            <a:endParaRPr lang="ta-IN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9A138-37D7-70F1-4D71-293503545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504" y="4756498"/>
            <a:ext cx="4781296" cy="661457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ta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9C03C-0190-F02A-428A-336A9A6BCF9C}"/>
              </a:ext>
            </a:extLst>
          </p:cNvPr>
          <p:cNvSpPr txBox="1"/>
          <p:nvPr/>
        </p:nvSpPr>
        <p:spPr>
          <a:xfrm>
            <a:off x="8905580" y="4131734"/>
            <a:ext cx="391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-DIVINE P</a:t>
            </a:r>
          </a:p>
          <a:p>
            <a:endParaRPr lang="en-IN" sz="2800" b="1" dirty="0">
              <a:solidFill>
                <a:schemeClr val="bg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33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D99414-A5DF-B9EE-5E36-5D20FB0AE3BE}"/>
              </a:ext>
            </a:extLst>
          </p:cNvPr>
          <p:cNvSpPr txBox="1"/>
          <p:nvPr/>
        </p:nvSpPr>
        <p:spPr>
          <a:xfrm>
            <a:off x="50800" y="782122"/>
            <a:ext cx="1209040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🎯 1. OBJECTIVE :</a:t>
            </a:r>
          </a:p>
          <a:p>
            <a:endParaRPr lang="en-IN" sz="2000" b="1" u="sng"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  <a:ea typeface="Artifakt Element Medium" panose="020B0603050000020004" pitchFamily="34" charset="0"/>
              </a:rPr>
              <a:t>To automate the task of sending multiple emails using Python.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Baskerville Old Face" panose="02020602080505020303" pitchFamily="18" charset="0"/>
              <a:ea typeface="Artifakt Element Medium" panose="020B06030500000200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  <a:ea typeface="Artifakt Element Medium" panose="020B0603050000020004" pitchFamily="34" charset="0"/>
              </a:rPr>
              <a:t>Reduce manual effort and human error in email communication.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Baskerville Old Face" panose="02020602080505020303" pitchFamily="18" charset="0"/>
              <a:ea typeface="Artifakt Element Medium" panose="020B06030500000200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  <a:ea typeface="Artifakt Element Medium" panose="020B0603050000020004" pitchFamily="34" charset="0"/>
              </a:rPr>
              <a:t>Utilize Excel for managing recipient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Baskerville Old Face" panose="02020602080505020303" pitchFamily="18" charset="0"/>
              <a:ea typeface="Artifakt Element Medium" panose="020B06030500000200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  <a:ea typeface="Artifakt Element Medium" panose="020B0603050000020004" pitchFamily="34" charset="0"/>
              </a:rPr>
              <a:t>Personalize messages dynamically for each recipient.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Baskerville Old Face" panose="02020602080505020303" pitchFamily="18" charset="0"/>
              <a:ea typeface="Artifakt Element Medium" panose="020B06030500000200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  <a:ea typeface="Artifakt Element Medium" panose="020B0603050000020004" pitchFamily="34" charset="0"/>
              </a:rPr>
              <a:t>Ensure reliable, timely, and efficient communication.</a:t>
            </a:r>
          </a:p>
          <a:p>
            <a:endParaRPr lang="en-US" sz="2000" b="1" dirty="0">
              <a:latin typeface="Baskerville Old Face" panose="02020602080505020303" pitchFamily="18" charset="0"/>
              <a:ea typeface="Artifakt Element Medium" panose="020B0603050000020004" pitchFamily="34" charset="0"/>
            </a:endParaRPr>
          </a:p>
          <a:p>
            <a:endParaRPr lang="en-US" sz="3200" dirty="0">
              <a:latin typeface="Baskerville Old Face" panose="02020602080505020303" pitchFamily="18" charset="0"/>
              <a:ea typeface="Artifakt Element Medium" panose="020B0603050000020004" pitchFamily="34" charset="0"/>
            </a:endParaRPr>
          </a:p>
          <a:p>
            <a:endParaRPr lang="en-US" sz="2400" b="1" dirty="0">
              <a:latin typeface="Baskerville Old Face" panose="02020602080505020303" pitchFamily="18" charset="0"/>
            </a:endParaRPr>
          </a:p>
          <a:p>
            <a:endParaRPr lang="en-US" sz="2400" dirty="0"/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677429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FECE9D1-E3B3-41C2-AFA3-7C18D20A7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11" y="614853"/>
            <a:ext cx="675858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🧪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2. PROOF OF CONCEPT (POC):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An Excel file contains names and email addresses of recipients.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Python script reads this file using the pandas library.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Emails are sent automatically via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smtplib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using SMTP.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Console outputs confirm successful sending.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Recipients receive personalized emails as per the Excel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500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06A4FA5-B7E7-2138-A696-EA68F5805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1" y="696542"/>
            <a:ext cx="7402026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🧠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3. Design and Methodology (Point View):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Step 1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Prepare an Excel sheet with recipient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Step 2: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 Use pandas to read the Excel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Step 3: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 Connect to an SMTP server using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smtplib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Step 4: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 Compose and personalize each email.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Step 5: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Send emails in a loop and log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Step 6: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  <a:cs typeface="Arial" panose="020B0604020202020204" pitchFamily="34" charset="0"/>
              </a:rPr>
              <a:t> End connection after completion.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39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F9AF1D4-335F-3597-C009-C81F215CB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117" y="0"/>
            <a:ext cx="46339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910C3A-C7A2-1305-221D-974BBDE56D0C}"/>
              </a:ext>
            </a:extLst>
          </p:cNvPr>
          <p:cNvSpPr txBox="1"/>
          <p:nvPr/>
        </p:nvSpPr>
        <p:spPr>
          <a:xfrm>
            <a:off x="728133" y="660400"/>
            <a:ext cx="2074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FLOWCHART:</a:t>
            </a:r>
            <a:endParaRPr lang="ta-IN" sz="2400" b="1" u="sng" dirty="0">
              <a:latin typeface="Artifakt Element" panose="020B0503050000020004" pitchFamily="34" charset="0"/>
              <a:ea typeface="Artifakt Element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627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E8BD3B9-122E-1D4C-56DD-47703FD4F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67" y="836011"/>
            <a:ext cx="687239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💻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5. SOFTWARE AND LIBRARIES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Python 3.x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– Main programming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VS Code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– 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Excel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– For storing email and name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Libraries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pandas – Reading Excel file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openpyxl</a:t>
            </a: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– Excel backend support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smtplib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– Sending email via SMTP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email.mime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– Formatting email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59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801B84-D440-0D3E-1C13-CF9A46B0B429}"/>
              </a:ext>
            </a:extLst>
          </p:cNvPr>
          <p:cNvSpPr txBox="1"/>
          <p:nvPr/>
        </p:nvSpPr>
        <p:spPr>
          <a:xfrm>
            <a:off x="871538" y="1419850"/>
            <a:ext cx="104489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>
                <a:latin typeface="Arial Black" panose="020B0A04020102020204" pitchFamily="34" charset="0"/>
              </a:rPr>
              <a:t>         </a:t>
            </a:r>
            <a:r>
              <a:rPr lang="en-IN" sz="8800" b="1" u="sng" dirty="0">
                <a:latin typeface="Arial Black" panose="020B0A04020102020204" pitchFamily="34" charset="0"/>
              </a:rPr>
              <a:t>CODE:</a:t>
            </a:r>
            <a:endParaRPr lang="ta-IN" sz="8800" b="1" u="sng" dirty="0">
              <a:latin typeface="Arial Black" panose="020B0A04020102020204" pitchFamily="34" charset="0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92E70D9-C883-E035-E91E-3AC41CF2AE59}"/>
              </a:ext>
            </a:extLst>
          </p:cNvPr>
          <p:cNvSpPr/>
          <p:nvPr/>
        </p:nvSpPr>
        <p:spPr>
          <a:xfrm>
            <a:off x="4105275" y="2943225"/>
            <a:ext cx="4143375" cy="3914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94112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171213-4058-0EF5-D92A-7C793A168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6398"/>
            <a:ext cx="12192000" cy="705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0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78442C-20FE-708C-C46C-182EF4D12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3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1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8EEBE67-3E6C-60C7-7826-3D950B47A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33" y="905233"/>
            <a:ext cx="5214889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📝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7. DESCRIPTION OF CODE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Imports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necessary libraries.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Reads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Excel data using pandas.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Connects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to Gmail SMTP server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Loops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through each recipient.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Composes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personalized message.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email and prints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Closes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connection once done.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722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D5D283-4DF5-7567-59F3-712D57C19F26}"/>
              </a:ext>
            </a:extLst>
          </p:cNvPr>
          <p:cNvSpPr txBox="1"/>
          <p:nvPr/>
        </p:nvSpPr>
        <p:spPr>
          <a:xfrm>
            <a:off x="795866" y="1236134"/>
            <a:ext cx="1240366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u="sng" dirty="0">
                <a:latin typeface="Arial Black" panose="020B0A04020102020204" pitchFamily="34" charset="0"/>
              </a:rPr>
              <a:t>📈 </a:t>
            </a:r>
            <a:r>
              <a:rPr lang="en-US" sz="2400" b="1" u="sng" dirty="0">
                <a:latin typeface="Arial Black" panose="020B0A04020102020204" pitchFamily="34" charset="0"/>
              </a:rPr>
              <a:t>8. RESULT </a:t>
            </a:r>
          </a:p>
          <a:p>
            <a:pPr>
              <a:buNone/>
            </a:pPr>
            <a:endParaRPr lang="en-US" sz="2000" b="1" u="sng" dirty="0"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</a:rPr>
              <a:t>Emails are sent to all recipients in the Excel sheet.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Baskerville Old Face" panose="020206020805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</a:rPr>
              <a:t>Each recipient receives a personalized message.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Baskerville Old Face" panose="020206020805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</a:rPr>
              <a:t>Console shows confirmation for each email sent.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Baskerville Old Face" panose="020206020805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</a:rPr>
              <a:t>No manual effort needed for sending bulk emails.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Baskerville Old Face" panose="020206020805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Baskerville Old Face" panose="02020602080505020303" pitchFamily="18" charset="0"/>
              </a:rPr>
              <a:t>Project successfully proves the concept of automation.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2867511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E332C-7597-A439-A625-321E4379C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10" y="792057"/>
            <a:ext cx="5147109" cy="21882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93E21D-603F-247F-8816-E156EB664D6E}"/>
              </a:ext>
            </a:extLst>
          </p:cNvPr>
          <p:cNvSpPr txBox="1"/>
          <p:nvPr/>
        </p:nvSpPr>
        <p:spPr>
          <a:xfrm>
            <a:off x="699310" y="202591"/>
            <a:ext cx="3322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OUTPUT:</a:t>
            </a:r>
            <a:endParaRPr lang="ta-IN" sz="2000"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5BBBEB-A0FF-7C5F-9E68-5410B9B87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09" y="4165600"/>
            <a:ext cx="9852995" cy="2590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2BD2FB-5478-CDBC-D9D4-475BCAECBF18}"/>
              </a:ext>
            </a:extLst>
          </p:cNvPr>
          <p:cNvSpPr txBox="1"/>
          <p:nvPr/>
        </p:nvSpPr>
        <p:spPr>
          <a:xfrm>
            <a:off x="699310" y="3677680"/>
            <a:ext cx="3903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Example of Email Received</a:t>
            </a:r>
            <a:r>
              <a:rPr lang="en-IN" dirty="0"/>
              <a:t>:</a:t>
            </a:r>
            <a:endParaRPr lang="ta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8F101E-1499-AD60-A2AA-F77AF86B9DF5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401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BA310-A412-9BC3-ECC9-962B7C87B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45" y="905934"/>
            <a:ext cx="9709376" cy="200883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9D7743-68D1-5F01-BDB8-C240906C1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7879"/>
            <a:ext cx="53976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📌 Screenshot of Excel File (emails.xlsx):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3B4CA7-912B-B84C-EC6E-093CC7370ABD}"/>
              </a:ext>
            </a:extLst>
          </p:cNvPr>
          <p:cNvCxnSpPr>
            <a:cxnSpLocks/>
          </p:cNvCxnSpPr>
          <p:nvPr/>
        </p:nvCxnSpPr>
        <p:spPr>
          <a:xfrm>
            <a:off x="0" y="3492500"/>
            <a:ext cx="12192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55FDF6B-EF49-ED03-C27D-F96A0F213FEE}"/>
              </a:ext>
            </a:extLst>
          </p:cNvPr>
          <p:cNvSpPr/>
          <p:nvPr/>
        </p:nvSpPr>
        <p:spPr>
          <a:xfrm>
            <a:off x="386645" y="4295775"/>
            <a:ext cx="4147255" cy="15135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a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52DDE-C0DC-B77F-5812-8B69D634ED99}"/>
              </a:ext>
            </a:extLst>
          </p:cNvPr>
          <p:cNvSpPr txBox="1"/>
          <p:nvPr/>
        </p:nvSpPr>
        <p:spPr>
          <a:xfrm>
            <a:off x="491067" y="3733800"/>
            <a:ext cx="966893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📌 Screenshot of Sent Items (Gmail)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✅ </a:t>
            </a:r>
            <a:r>
              <a:rPr lang="en-US" sz="2000" b="1" dirty="0"/>
              <a:t>"Automated Email"</a:t>
            </a:r>
            <a:r>
              <a:rPr lang="en-US" sz="2000" dirty="0"/>
              <a:t> sent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john@example.com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alice@example.com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mike@example.com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76395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0E9387-7F6C-686C-3160-37E8BA973893}"/>
              </a:ext>
            </a:extLst>
          </p:cNvPr>
          <p:cNvSpPr txBox="1"/>
          <p:nvPr/>
        </p:nvSpPr>
        <p:spPr>
          <a:xfrm>
            <a:off x="200025" y="1551563"/>
            <a:ext cx="121920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u="sng" dirty="0">
                <a:latin typeface="Arial Black" panose="020B0A04020102020204" pitchFamily="34" charset="0"/>
              </a:rPr>
              <a:t>📦 </a:t>
            </a:r>
            <a:r>
              <a:rPr lang="en-US" sz="2400" b="1" u="sng" dirty="0">
                <a:latin typeface="Arial Black" panose="020B0A04020102020204" pitchFamily="34" charset="0"/>
              </a:rPr>
              <a:t>9. Application :</a:t>
            </a:r>
          </a:p>
          <a:p>
            <a:pPr>
              <a:buNone/>
            </a:pPr>
            <a:endParaRPr lang="en-US" sz="2000" b="1" u="sng" dirty="0"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u="sng" dirty="0"/>
              <a:t>College: </a:t>
            </a:r>
            <a:r>
              <a:rPr lang="en-US" sz="2000" b="1" dirty="0"/>
              <a:t>Send announcements to students/staff.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u="sng" dirty="0"/>
              <a:t>Companies:</a:t>
            </a:r>
            <a:r>
              <a:rPr lang="en-US" sz="2000" b="1" dirty="0"/>
              <a:t> Email reports, reminders, </a:t>
            </a:r>
            <a:r>
              <a:rPr lang="en-US" sz="2000" b="1" dirty="0" err="1"/>
              <a:t>payslips</a:t>
            </a:r>
            <a:r>
              <a:rPr lang="en-US" sz="2000" b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u="sng" dirty="0"/>
              <a:t>Marketing:</a:t>
            </a:r>
            <a:r>
              <a:rPr lang="en-US" sz="2000" b="1" dirty="0"/>
              <a:t> Bulk promotional or newsletter emails.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u="sng" dirty="0"/>
              <a:t>Events:</a:t>
            </a:r>
            <a:r>
              <a:rPr lang="en-US" sz="2000" b="1" dirty="0"/>
              <a:t> Auto-invite participants with custom messages.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u="sng" dirty="0"/>
              <a:t>Schools:</a:t>
            </a:r>
            <a:r>
              <a:rPr lang="en-US" sz="2000" b="1" dirty="0"/>
              <a:t> Notify parents or students automatically</a:t>
            </a:r>
            <a:r>
              <a:rPr lang="en-US" sz="2000" dirty="0"/>
              <a:t>.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2133635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FA401-C23E-ACB4-245B-4FD6B07F4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512" y="1545034"/>
            <a:ext cx="7036976" cy="395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7585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134</TotalTime>
  <Words>430</Words>
  <Application>Microsoft Office PowerPoint</Application>
  <PresentationFormat>Widescreen</PresentationFormat>
  <Paragraphs>107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 Unicode MS</vt:lpstr>
      <vt:lpstr>Arial</vt:lpstr>
      <vt:lpstr>Arial Black</vt:lpstr>
      <vt:lpstr>Artifakt Element</vt:lpstr>
      <vt:lpstr>Artifakt Element Heavy</vt:lpstr>
      <vt:lpstr>Baskerville Old Face</vt:lpstr>
      <vt:lpstr>Calibri</vt:lpstr>
      <vt:lpstr>Calibri Light</vt:lpstr>
      <vt:lpstr>Metropolitan</vt:lpstr>
      <vt:lpstr>Automatic Email Sending Using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DIVINE PAKIARAJA</dc:creator>
  <cp:lastModifiedBy>DIVINE PAKIARAJA</cp:lastModifiedBy>
  <cp:revision>1</cp:revision>
  <dcterms:created xsi:type="dcterms:W3CDTF">2025-04-01T04:07:42Z</dcterms:created>
  <dcterms:modified xsi:type="dcterms:W3CDTF">2026-02-18T18:06:43Z</dcterms:modified>
</cp:coreProperties>
</file>